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5B18-5F6F-8D48-DCBA-3712E4915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B62D9-B6C9-E979-64AC-4A4F476E0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7A10-18C7-2787-AA24-A2C9CAC4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EB584-8A6A-F145-80C2-165B8E21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B76BA-9A69-C321-C5CB-0182A1AB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9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C16F-1E5E-63DC-46A1-605D3055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B79E-921E-BE0C-B9F2-AC9E83C2B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8181-CE8B-75FF-5844-0AA4DEBA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68C1-CC51-C311-94FA-C4EBE250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D0B8-DC3C-2BC5-60BF-D0099862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5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3DFE-C964-E5E1-DBF1-D73A2E86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C6A49-CE41-564E-D353-5C8DABA27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06419-A602-EB08-EB66-5D80F002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F79B2-6748-5A3C-0966-C3C64500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8CD45-9391-9842-7A4B-233E8985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0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E8A1-A78D-4C69-6722-A0DC833B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AE18-8B67-CC95-503C-361A7226C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8639F-00BA-E6FB-9D13-876703C64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11ECB-6E7B-7368-FCF4-C9A56065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F8F0B-28F4-2F8E-6001-0F461C8E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5E1A3-5B4F-DE9B-4D2D-FC565986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1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6FC4-089F-5CE3-7082-3942E794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193E7-1E67-3272-6A20-F92BCCF62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8D5E8-6022-54D2-8A73-AE4A8BBC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BEC27-77D4-50AB-4808-9817F665B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78F0A-1D5B-5394-D7EE-D4B44A8E9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9DC3F-085F-FB1E-3B39-3EA13F36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17B4D-5648-CCD2-CBAB-56ABE2A6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67B92-A0E8-75E6-BA88-199D1650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3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16FF-37E1-D83A-2508-FB3F5C5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32F57-005C-5C7A-EE5A-1651049E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0DB75-187E-2E25-37C5-C0668126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D2DC9-4D36-9DFD-9FF8-6B6C02D4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4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DF57E-1A90-E87C-AFCE-570BAD8D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3D25D-FB59-0F4F-A265-180CC289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34F46-0FE6-536E-2AFD-2C47D4B7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1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7CA5-BB1D-DE8B-5C2C-600C3926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BC484-A9EF-ABC4-7B26-F48641BA4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75563-DEE7-BE82-4A80-9BD421390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B44C3-D2AD-3343-80C2-10E1084D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48CFC-B4ED-B0F3-FFE2-E0241D9F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6D89A-EA45-AB84-525C-B5B638BA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7E13-74A4-DA63-D535-777E6848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EA5B3-972A-810D-8D2E-6CE21C9A50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59DD0-DAFC-5B72-3069-31520DD25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A4852-2D28-FDED-CD5B-2B2DD0DE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861CE-0B41-7FA8-0C1D-F02D7CF3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9781C-A00D-71B8-1491-497E2A39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7B49-EECE-D91D-B285-DB7658E7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D42B3-67BC-42DA-9322-B0AAB3FDA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DD528-9CF8-7FD0-A487-69337254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DED7F-F57B-50EF-E7E2-670990EF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F91B-9F66-248C-FE3C-586316B9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3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800D3-EECC-BB04-EAC5-7D95A72DB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987A5-5C8A-08F8-4267-555B4C71D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C0DCD-42D1-0261-020C-BEBC9F306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CFADE-2DFC-8EA8-B524-397A1927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80E38-D2C9-107D-8ECB-37CB3BE5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3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11C18-6DEA-5BF5-696F-C42AC48E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0C35C-1F6D-6D6B-B2B7-85BD91931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ECB8-5EF0-1283-C43A-A107A9314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09F73-5D1D-424B-A313-03BE51FD0EFE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A230-211F-95C4-39BE-13757FA09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04430-A668-61B9-989C-625881503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54399-1859-4253-BFDE-0C317BD3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2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95D12-1574-EBCA-6D23-99C97D6F0C15}"/>
              </a:ext>
            </a:extLst>
          </p:cNvPr>
          <p:cNvSpPr txBox="1"/>
          <p:nvPr/>
        </p:nvSpPr>
        <p:spPr>
          <a:xfrm>
            <a:off x="812800" y="1905000"/>
            <a:ext cx="105664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Cambria" panose="02040503050406030204" pitchFamily="18" charset="0"/>
              </a:rPr>
              <a:t>MCP Services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A5443-0282-7C77-A6BF-4C69910C60B6}"/>
              </a:ext>
            </a:extLst>
          </p:cNvPr>
          <p:cNvSpPr txBox="1"/>
          <p:nvPr/>
        </p:nvSpPr>
        <p:spPr>
          <a:xfrm>
            <a:off x="812800" y="2895600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CADCE6"/>
                </a:solidFill>
                <a:latin typeface="Calibri" panose="020F0502020204030204" pitchFamily="34" charset="0"/>
              </a:rPr>
              <a:t>Connecting Claude Code to real services through MCP, saving the data locally, and searching it all in one place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54922-A7BC-CB82-4DB7-447F91B15960}"/>
              </a:ext>
            </a:extLst>
          </p:cNvPr>
          <p:cNvSpPr/>
          <p:nvPr/>
        </p:nvSpPr>
        <p:spPr>
          <a:xfrm>
            <a:off x="812800" y="4191000"/>
            <a:ext cx="762000" cy="50800"/>
          </a:xfrm>
          <a:prstGeom prst="rect">
            <a:avLst/>
          </a:prstGeom>
          <a:solidFill>
            <a:srgbClr val="F2A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09C15-1CCF-AA06-8D5C-41CBD39E704C}"/>
              </a:ext>
            </a:extLst>
          </p:cNvPr>
          <p:cNvSpPr txBox="1"/>
          <p:nvPr/>
        </p:nvSpPr>
        <p:spPr>
          <a:xfrm>
            <a:off x="812800" y="4470400"/>
            <a:ext cx="1056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Gabi Slepoy  ·  Lior Bongart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4527E-9319-A555-CDEE-57A5E137022E}"/>
              </a:ext>
            </a:extLst>
          </p:cNvPr>
          <p:cNvSpPr txBox="1"/>
          <p:nvPr/>
        </p:nvSpPr>
        <p:spPr>
          <a:xfrm>
            <a:off x="812800" y="4978400"/>
            <a:ext cx="10566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A0B9C8"/>
                </a:solidFill>
                <a:latin typeface="Calibri" panose="020F0502020204030204" pitchFamily="34" charset="0"/>
              </a:rPr>
              <a:t>Course project · October 2026</a:t>
            </a:r>
          </a:p>
        </p:txBody>
      </p:sp>
    </p:spTree>
    <p:extLst>
      <p:ext uri="{BB962C8B-B14F-4D97-AF65-F5344CB8AC3E}">
        <p14:creationId xmlns:p14="http://schemas.microsoft.com/office/powerpoint/2010/main" val="5640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29EE4-4A3D-95E5-B1B6-9DD9723F11DF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47917-B0F9-21E2-CEA3-103937D1B6B4}"/>
              </a:ext>
            </a:extLst>
          </p:cNvPr>
          <p:cNvSpPr txBox="1"/>
          <p:nvPr/>
        </p:nvSpPr>
        <p:spPr>
          <a:xfrm>
            <a:off x="609600" y="11176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D7E"/>
                </a:solidFill>
                <a:latin typeface="Calibri" panose="020F0502020204030204" pitchFamily="34" charset="0"/>
              </a:rPr>
              <a:t>Each service is reached through its official MCP server. Claude Code downloads the data, saves it in one shared format, and the dashboard searches it.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DED19C-A385-2182-D2CB-6FF182132E54}"/>
              </a:ext>
            </a:extLst>
          </p:cNvPr>
          <p:cNvSpPr/>
          <p:nvPr/>
        </p:nvSpPr>
        <p:spPr>
          <a:xfrm>
            <a:off x="609600" y="2032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Service</a:t>
            </a:r>
          </a:p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(Notion, Jira…)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4D9B41E-3EB0-AE2A-CD99-B2B7E27D9172}"/>
              </a:ext>
            </a:extLst>
          </p:cNvPr>
          <p:cNvSpPr/>
          <p:nvPr/>
        </p:nvSpPr>
        <p:spPr>
          <a:xfrm>
            <a:off x="2971800" y="2438400"/>
            <a:ext cx="381000" cy="330200"/>
          </a:xfrm>
          <a:prstGeom prst="rightArrow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A10CC6-B4C9-7E5D-2F71-429B52BE23A4}"/>
              </a:ext>
            </a:extLst>
          </p:cNvPr>
          <p:cNvSpPr/>
          <p:nvPr/>
        </p:nvSpPr>
        <p:spPr>
          <a:xfrm>
            <a:off x="3429000" y="2032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Claude Code</a:t>
            </a:r>
          </a:p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+ MCP server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8CAF570-C3FC-0E46-A869-B14FD8AC6E7B}"/>
              </a:ext>
            </a:extLst>
          </p:cNvPr>
          <p:cNvSpPr/>
          <p:nvPr/>
        </p:nvSpPr>
        <p:spPr>
          <a:xfrm>
            <a:off x="5791200" y="2438400"/>
            <a:ext cx="381000" cy="330200"/>
          </a:xfrm>
          <a:prstGeom prst="rightArrow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A0E7D-E486-644E-1A5E-C4FB4E104176}"/>
              </a:ext>
            </a:extLst>
          </p:cNvPr>
          <p:cNvSpPr/>
          <p:nvPr/>
        </p:nvSpPr>
        <p:spPr>
          <a:xfrm>
            <a:off x="6248400" y="2032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dataExports/</a:t>
            </a:r>
          </a:p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local files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F4CA8CF-D232-DF23-2F4D-DFD1899A565A}"/>
              </a:ext>
            </a:extLst>
          </p:cNvPr>
          <p:cNvSpPr/>
          <p:nvPr/>
        </p:nvSpPr>
        <p:spPr>
          <a:xfrm>
            <a:off x="8610600" y="2438400"/>
            <a:ext cx="381000" cy="330200"/>
          </a:xfrm>
          <a:prstGeom prst="rightArrow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7EE6C8-C228-182F-E56B-C45A620082EB}"/>
              </a:ext>
            </a:extLst>
          </p:cNvPr>
          <p:cNvSpPr/>
          <p:nvPr/>
        </p:nvSpPr>
        <p:spPr>
          <a:xfrm>
            <a:off x="9067800" y="2032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Dashboard</a:t>
            </a:r>
          </a:p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webapp/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0B8A86-017C-4CDC-5596-88F56C3C31DE}"/>
              </a:ext>
            </a:extLst>
          </p:cNvPr>
          <p:cNvSpPr/>
          <p:nvPr/>
        </p:nvSpPr>
        <p:spPr>
          <a:xfrm>
            <a:off x="609600" y="3810000"/>
            <a:ext cx="2032000" cy="1397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049A9-5DCC-F4E8-31CD-59070F4FD95D}"/>
              </a:ext>
            </a:extLst>
          </p:cNvPr>
          <p:cNvSpPr txBox="1"/>
          <p:nvPr/>
        </p:nvSpPr>
        <p:spPr>
          <a:xfrm>
            <a:off x="787400" y="40386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Notion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0C4032-7ADA-1594-4AC7-8574286EDB3A}"/>
              </a:ext>
            </a:extLst>
          </p:cNvPr>
          <p:cNvSpPr/>
          <p:nvPr/>
        </p:nvSpPr>
        <p:spPr>
          <a:xfrm>
            <a:off x="787400" y="4699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Done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C93F1E-FFD9-2C37-7A23-F3A73CF89DA1}"/>
              </a:ext>
            </a:extLst>
          </p:cNvPr>
          <p:cNvSpPr/>
          <p:nvPr/>
        </p:nvSpPr>
        <p:spPr>
          <a:xfrm>
            <a:off x="2844800" y="3810000"/>
            <a:ext cx="2032000" cy="1397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6C369-4DB3-105D-D160-5AD4834D27CD}"/>
              </a:ext>
            </a:extLst>
          </p:cNvPr>
          <p:cNvSpPr txBox="1"/>
          <p:nvPr/>
        </p:nvSpPr>
        <p:spPr>
          <a:xfrm>
            <a:off x="3022600" y="40386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Jira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AB8C26-3AF8-F136-F718-7781F7D16035}"/>
              </a:ext>
            </a:extLst>
          </p:cNvPr>
          <p:cNvSpPr/>
          <p:nvPr/>
        </p:nvSpPr>
        <p:spPr>
          <a:xfrm>
            <a:off x="3022600" y="4699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Done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EABF75-CAF9-D53C-C39F-C6298EC3F2E7}"/>
              </a:ext>
            </a:extLst>
          </p:cNvPr>
          <p:cNvSpPr/>
          <p:nvPr/>
        </p:nvSpPr>
        <p:spPr>
          <a:xfrm>
            <a:off x="5080000" y="3810000"/>
            <a:ext cx="2032000" cy="1397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5AAB43-76B6-D5A3-5C09-4A67AB18FDCC}"/>
              </a:ext>
            </a:extLst>
          </p:cNvPr>
          <p:cNvSpPr txBox="1"/>
          <p:nvPr/>
        </p:nvSpPr>
        <p:spPr>
          <a:xfrm>
            <a:off x="5257800" y="40386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GitHub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610A41-A178-9FAA-6F48-2379A2DEAB49}"/>
              </a:ext>
            </a:extLst>
          </p:cNvPr>
          <p:cNvSpPr/>
          <p:nvPr/>
        </p:nvSpPr>
        <p:spPr>
          <a:xfrm>
            <a:off x="5257800" y="4699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Done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442D37-1461-AE4D-AF73-4193B472CF90}"/>
              </a:ext>
            </a:extLst>
          </p:cNvPr>
          <p:cNvSpPr/>
          <p:nvPr/>
        </p:nvSpPr>
        <p:spPr>
          <a:xfrm>
            <a:off x="7315200" y="3810000"/>
            <a:ext cx="2032000" cy="1397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49821-EC70-219A-2EB4-5FA703CBCD26}"/>
              </a:ext>
            </a:extLst>
          </p:cNvPr>
          <p:cNvSpPr txBox="1"/>
          <p:nvPr/>
        </p:nvSpPr>
        <p:spPr>
          <a:xfrm>
            <a:off x="7493000" y="40386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Slack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DD1A58-E41F-6CB2-56D1-3D1DC0A1CCF8}"/>
              </a:ext>
            </a:extLst>
          </p:cNvPr>
          <p:cNvSpPr/>
          <p:nvPr/>
        </p:nvSpPr>
        <p:spPr>
          <a:xfrm>
            <a:off x="7493000" y="4699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Done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3307FB-8DAB-4A77-10A3-A1AE2D9A12B8}"/>
              </a:ext>
            </a:extLst>
          </p:cNvPr>
          <p:cNvSpPr/>
          <p:nvPr/>
        </p:nvSpPr>
        <p:spPr>
          <a:xfrm>
            <a:off x="9550400" y="3810000"/>
            <a:ext cx="2032000" cy="1397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F441C2-E0B1-EC43-1FB2-D1418BFB7E04}"/>
              </a:ext>
            </a:extLst>
          </p:cNvPr>
          <p:cNvSpPr txBox="1"/>
          <p:nvPr/>
        </p:nvSpPr>
        <p:spPr>
          <a:xfrm>
            <a:off x="9728200" y="40386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Gmail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2953491-38A3-9862-11E0-2A8644E26B18}"/>
              </a:ext>
            </a:extLst>
          </p:cNvPr>
          <p:cNvSpPr/>
          <p:nvPr/>
        </p:nvSpPr>
        <p:spPr>
          <a:xfrm>
            <a:off x="9728200" y="4699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Waived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31BCA-6FB2-A557-95B4-CBDB21307252}"/>
              </a:ext>
            </a:extLst>
          </p:cNvPr>
          <p:cNvSpPr txBox="1"/>
          <p:nvPr/>
        </p:nvSpPr>
        <p:spPr>
          <a:xfrm>
            <a:off x="609600" y="5588000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D6D7E"/>
                </a:solidFill>
                <a:latin typeface="Calibri" panose="020F0502020204030204" pitchFamily="34" charset="0"/>
              </a:rPr>
              <a:t>Read only: downloads never change anything in the source service.</a:t>
            </a:r>
          </a:p>
        </p:txBody>
      </p:sp>
    </p:spTree>
    <p:extLst>
      <p:ext uri="{BB962C8B-B14F-4D97-AF65-F5344CB8AC3E}">
        <p14:creationId xmlns:p14="http://schemas.microsoft.com/office/powerpoint/2010/main" val="66584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C3949-C9E8-A75F-7A05-3A4A37457841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Test accounts and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E6773-EE70-272D-0616-467F14CD6054}"/>
              </a:ext>
            </a:extLst>
          </p:cNvPr>
          <p:cNvSpPr txBox="1"/>
          <p:nvPr/>
        </p:nvSpPr>
        <p:spPr>
          <a:xfrm>
            <a:off x="609600" y="1117600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D7E"/>
                </a:solidFill>
                <a:latin typeface="Calibri" panose="020F0502020204030204" pitchFamily="34" charset="0"/>
              </a:rPr>
              <a:t>Throwaway accounts made for this course. All people and projects are invented.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03FDCD-2996-E4FB-07B1-65673238692D}"/>
              </a:ext>
            </a:extLst>
          </p:cNvPr>
          <p:cNvSpPr/>
          <p:nvPr/>
        </p:nvSpPr>
        <p:spPr>
          <a:xfrm>
            <a:off x="609600" y="1778000"/>
            <a:ext cx="2235200" cy="2540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23773-1A18-03CE-AF66-40F40AD1B149}"/>
              </a:ext>
            </a:extLst>
          </p:cNvPr>
          <p:cNvSpPr/>
          <p:nvPr/>
        </p:nvSpPr>
        <p:spPr>
          <a:xfrm>
            <a:off x="1346200" y="2032000"/>
            <a:ext cx="762000" cy="762000"/>
          </a:xfrm>
          <a:prstGeom prst="ellipse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3189C-D1BF-F27F-572A-ADCA8C526707}"/>
              </a:ext>
            </a:extLst>
          </p:cNvPr>
          <p:cNvSpPr txBox="1"/>
          <p:nvPr/>
        </p:nvSpPr>
        <p:spPr>
          <a:xfrm>
            <a:off x="711200" y="2997200"/>
            <a:ext cx="203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1B2631"/>
                </a:solidFill>
                <a:latin typeface="Calibri" panose="020F0502020204030204" pitchFamily="34" charset="0"/>
              </a:rPr>
              <a:t>Joe Smith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FF1D7-A587-2204-847E-7503926A3570}"/>
              </a:ext>
            </a:extLst>
          </p:cNvPr>
          <p:cNvSpPr txBox="1"/>
          <p:nvPr/>
        </p:nvSpPr>
        <p:spPr>
          <a:xfrm>
            <a:off x="711200" y="3403600"/>
            <a:ext cx="203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5D6D7E"/>
                </a:solidFill>
                <a:latin typeface="Calibri" panose="020F0502020204030204" pitchFamily="34" charset="0"/>
              </a:rPr>
              <a:t>Project manager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87DB37-53B7-66A3-04AB-365EA1F8056B}"/>
              </a:ext>
            </a:extLst>
          </p:cNvPr>
          <p:cNvSpPr/>
          <p:nvPr/>
        </p:nvSpPr>
        <p:spPr>
          <a:xfrm>
            <a:off x="3098800" y="1778000"/>
            <a:ext cx="2235200" cy="2540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3C4FE2-0760-3A81-EB3A-49A1CAB0E564}"/>
              </a:ext>
            </a:extLst>
          </p:cNvPr>
          <p:cNvSpPr/>
          <p:nvPr/>
        </p:nvSpPr>
        <p:spPr>
          <a:xfrm>
            <a:off x="3835400" y="2032000"/>
            <a:ext cx="762000" cy="762000"/>
          </a:xfrm>
          <a:prstGeom prst="ellipse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C75B4-DB38-FA50-579A-C613B8FF2909}"/>
              </a:ext>
            </a:extLst>
          </p:cNvPr>
          <p:cNvSpPr txBox="1"/>
          <p:nvPr/>
        </p:nvSpPr>
        <p:spPr>
          <a:xfrm>
            <a:off x="3200400" y="2997200"/>
            <a:ext cx="203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1B2631"/>
                </a:solidFill>
                <a:latin typeface="Calibri" panose="020F0502020204030204" pitchFamily="34" charset="0"/>
              </a:rPr>
              <a:t>Maria Lopez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0C433-ECDA-19FF-5316-AADC5DD84A61}"/>
              </a:ext>
            </a:extLst>
          </p:cNvPr>
          <p:cNvSpPr txBox="1"/>
          <p:nvPr/>
        </p:nvSpPr>
        <p:spPr>
          <a:xfrm>
            <a:off x="3200400" y="3403600"/>
            <a:ext cx="203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5D6D7E"/>
                </a:solidFill>
                <a:latin typeface="Calibri" panose="020F0502020204030204" pitchFamily="34" charset="0"/>
              </a:rPr>
              <a:t>Design and usability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F35BAC-163C-A436-3A8A-F077E380EE34}"/>
              </a:ext>
            </a:extLst>
          </p:cNvPr>
          <p:cNvSpPr/>
          <p:nvPr/>
        </p:nvSpPr>
        <p:spPr>
          <a:xfrm>
            <a:off x="5588000" y="1778000"/>
            <a:ext cx="2235200" cy="2540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765963-D9BC-4DC9-F190-FB97F7F8C2DF}"/>
              </a:ext>
            </a:extLst>
          </p:cNvPr>
          <p:cNvSpPr/>
          <p:nvPr/>
        </p:nvSpPr>
        <p:spPr>
          <a:xfrm>
            <a:off x="6324600" y="2032000"/>
            <a:ext cx="762000" cy="762000"/>
          </a:xfrm>
          <a:prstGeom prst="ellipse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A4F49-9DD0-744A-C108-00B48F826731}"/>
              </a:ext>
            </a:extLst>
          </p:cNvPr>
          <p:cNvSpPr txBox="1"/>
          <p:nvPr/>
        </p:nvSpPr>
        <p:spPr>
          <a:xfrm>
            <a:off x="5689600" y="2997200"/>
            <a:ext cx="203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1B2631"/>
                </a:solidFill>
                <a:latin typeface="Calibri" panose="020F0502020204030204" pitchFamily="34" charset="0"/>
              </a:rPr>
              <a:t>Alex Chen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02319-9291-9974-283B-818B7A854DE9}"/>
              </a:ext>
            </a:extLst>
          </p:cNvPr>
          <p:cNvSpPr txBox="1"/>
          <p:nvPr/>
        </p:nvSpPr>
        <p:spPr>
          <a:xfrm>
            <a:off x="5689600" y="3403600"/>
            <a:ext cx="203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5D6D7E"/>
                </a:solidFill>
                <a:latin typeface="Calibri" panose="020F0502020204030204" pitchFamily="34" charset="0"/>
              </a:rPr>
              <a:t>Technical lead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D99B05-53E0-BF6F-1AF3-B15E1498F250}"/>
              </a:ext>
            </a:extLst>
          </p:cNvPr>
          <p:cNvSpPr/>
          <p:nvPr/>
        </p:nvSpPr>
        <p:spPr>
          <a:xfrm>
            <a:off x="8280400" y="1778000"/>
            <a:ext cx="3302000" cy="25400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534B1B-9085-80B2-6BF7-D516280910C9}"/>
              </a:ext>
            </a:extLst>
          </p:cNvPr>
          <p:cNvSpPr txBox="1"/>
          <p:nvPr/>
        </p:nvSpPr>
        <p:spPr>
          <a:xfrm>
            <a:off x="8534400" y="2032000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F2A541"/>
                </a:solidFill>
                <a:latin typeface="Cambria" panose="02040503050406030204" pitchFamily="18" charset="0"/>
              </a:rPr>
              <a:t>Project Falcon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72CC78-01BB-A124-19E9-FAF7F4AA1490}"/>
              </a:ext>
            </a:extLst>
          </p:cNvPr>
          <p:cNvSpPr txBox="1"/>
          <p:nvPr/>
        </p:nvSpPr>
        <p:spPr>
          <a:xfrm>
            <a:off x="8534400" y="2590800"/>
            <a:ext cx="28448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  <a:latin typeface="Calibri" panose="020F0502020204030204" pitchFamily="34" charset="0"/>
              </a:rPr>
              <a:t>A fake student project that ties the data together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  <a:latin typeface="Calibri" panose="020F0502020204030204" pitchFamily="34" charset="0"/>
              </a:rPr>
              <a:t>13 Notion pages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  <a:latin typeface="Calibri" panose="020F0502020204030204" pitchFamily="34" charset="0"/>
              </a:rPr>
              <a:t>13 Jira issues, FALCON-1 to FALCON-13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CCD31-3F74-56D2-CDB4-730B41C125E0}"/>
              </a:ext>
            </a:extLst>
          </p:cNvPr>
          <p:cNvSpPr txBox="1"/>
          <p:nvPr/>
        </p:nvSpPr>
        <p:spPr>
          <a:xfrm>
            <a:off x="609600" y="4699000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B2631"/>
                </a:solidFill>
                <a:latin typeface="Calibri" panose="020F0502020204030204" pitchFamily="34" charset="0"/>
              </a:rPr>
              <a:t>Search for “Joe Smith” and results come back from all four services: Notion, Jira, GitHub and Slack.</a:t>
            </a:r>
          </a:p>
        </p:txBody>
      </p:sp>
    </p:spTree>
    <p:extLst>
      <p:ext uri="{BB962C8B-B14F-4D97-AF65-F5344CB8AC3E}">
        <p14:creationId xmlns:p14="http://schemas.microsoft.com/office/powerpoint/2010/main" val="20961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0B6B01-E503-F7CA-09C3-49E25486CB24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Notion: original page and local copy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C4A73-5BBA-DB22-C5B5-6BA1C69F2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95244"/>
            <a:ext cx="5486400" cy="2969111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4B7703-2B3F-AAEE-8943-3BB4FF3FC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765300"/>
            <a:ext cx="5486400" cy="3429000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92910-12EA-5D28-CE50-F10053661414}"/>
              </a:ext>
            </a:extLst>
          </p:cNvPr>
          <p:cNvSpPr txBox="1"/>
          <p:nvPr/>
        </p:nvSpPr>
        <p:spPr>
          <a:xfrm>
            <a:off x="457200" y="58674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Original in Notion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CF3E2-C8E3-93A5-C68B-84C112CCB790}"/>
              </a:ext>
            </a:extLst>
          </p:cNvPr>
          <p:cNvSpPr txBox="1"/>
          <p:nvPr/>
        </p:nvSpPr>
        <p:spPr>
          <a:xfrm>
            <a:off x="6248400" y="58674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Same page opened in the dashboard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D69D3-B372-9CB7-F8B1-FF103F50EA1E}"/>
              </a:ext>
            </a:extLst>
          </p:cNvPr>
          <p:cNvSpPr/>
          <p:nvPr/>
        </p:nvSpPr>
        <p:spPr>
          <a:xfrm>
            <a:off x="5867400" y="3200400"/>
            <a:ext cx="457200" cy="330200"/>
          </a:xfrm>
          <a:prstGeom prst="ellipse">
            <a:avLst/>
          </a:prstGeom>
          <a:solidFill>
            <a:srgbClr val="F2A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259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03EDF-67A8-5508-AA90-DCDDA0D7F857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Jira: original issue and local copy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99867-D381-7290-F3D1-BADA845E7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6596"/>
            <a:ext cx="5486400" cy="3906408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F4D563-09F1-179F-730E-D8722F147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765300"/>
            <a:ext cx="5486400" cy="3429000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56CD8-FA1B-63A2-ED73-294DF9052E6A}"/>
              </a:ext>
            </a:extLst>
          </p:cNvPr>
          <p:cNvSpPr txBox="1"/>
          <p:nvPr/>
        </p:nvSpPr>
        <p:spPr>
          <a:xfrm>
            <a:off x="457200" y="58674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FALCON-12 in Jira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FFE93-2DE7-6F86-3062-AA05CD9355DF}"/>
              </a:ext>
            </a:extLst>
          </p:cNvPr>
          <p:cNvSpPr txBox="1"/>
          <p:nvPr/>
        </p:nvSpPr>
        <p:spPr>
          <a:xfrm>
            <a:off x="6248400" y="5867400"/>
            <a:ext cx="548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FALCON-12 opened in the dashboard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C93273-C0DB-416B-0A2F-F4145DE8E85A}"/>
              </a:ext>
            </a:extLst>
          </p:cNvPr>
          <p:cNvSpPr/>
          <p:nvPr/>
        </p:nvSpPr>
        <p:spPr>
          <a:xfrm>
            <a:off x="5867400" y="3200400"/>
            <a:ext cx="457200" cy="330200"/>
          </a:xfrm>
          <a:prstGeom prst="ellipse">
            <a:avLst/>
          </a:prstGeom>
          <a:solidFill>
            <a:srgbClr val="F2A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7511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1A8B1-E95A-4E3C-71AA-31A527E0D49C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One storage format for every service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1CE9F6-CF2E-0AE9-402B-4BB420593063}"/>
              </a:ext>
            </a:extLst>
          </p:cNvPr>
          <p:cNvSpPr/>
          <p:nvPr/>
        </p:nvSpPr>
        <p:spPr>
          <a:xfrm>
            <a:off x="609600" y="1270000"/>
            <a:ext cx="5207000" cy="40640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5462C-477F-E473-7635-171DB7863206}"/>
              </a:ext>
            </a:extLst>
          </p:cNvPr>
          <p:cNvSpPr txBox="1"/>
          <p:nvPr/>
        </p:nvSpPr>
        <p:spPr>
          <a:xfrm>
            <a:off x="838200" y="1498600"/>
            <a:ext cx="4826000" cy="381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dataExports/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notion/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index.json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2026-10-13_project-falcon-…_88f5398c/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  content.md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  metadata.json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jira/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index.json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2026-10-14_falcon-12_write-readme-…_10031/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  content.md</a:t>
            </a:r>
          </a:p>
          <a:p>
            <a:r>
              <a:rPr lang="en-US" sz="1300">
                <a:solidFill>
                  <a:srgbClr val="FFFFFF"/>
                </a:solidFill>
                <a:latin typeface="Courier New" panose="02070309020205020404" pitchFamily="49" charset="0"/>
              </a:rPr>
              <a:t>      metadata.json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D2382F-184F-96EC-DDD4-8579CD62EF57}"/>
              </a:ext>
            </a:extLst>
          </p:cNvPr>
          <p:cNvSpPr/>
          <p:nvPr/>
        </p:nvSpPr>
        <p:spPr>
          <a:xfrm>
            <a:off x="6121400" y="1270000"/>
            <a:ext cx="5461000" cy="2540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BDAAD-6F58-A42A-5264-F0EC6493B90A}"/>
              </a:ext>
            </a:extLst>
          </p:cNvPr>
          <p:cNvSpPr txBox="1"/>
          <p:nvPr/>
        </p:nvSpPr>
        <p:spPr>
          <a:xfrm>
            <a:off x="6350000" y="1473200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"service": "jira",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"id": "10031",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"key": "FALCON-12",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"title": "Write README instructions…",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"created_time": "2026-10-14T01:39:18Z",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"downloaded_at": "2026-10-14T01:41:47Z",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  "download_request": { "tool": … }</a:t>
            </a:r>
          </a:p>
          <a:p>
            <a:r>
              <a:rPr lang="en-US" sz="1300">
                <a:solidFill>
                  <a:srgbClr val="1B263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3CBB6-E605-DAE0-6BEF-D188F3A855EF}"/>
              </a:ext>
            </a:extLst>
          </p:cNvPr>
          <p:cNvSpPr txBox="1"/>
          <p:nvPr/>
        </p:nvSpPr>
        <p:spPr>
          <a:xfrm>
            <a:off x="6121400" y="4318000"/>
            <a:ext cx="5461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1B2631"/>
                </a:solidFill>
                <a:latin typeface="Calibri" panose="020F0502020204030204" pitchFamily="34" charset="0"/>
              </a:rPr>
              <a:t>One folder per item: content.md + metadata.json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1B2631"/>
                </a:solidFill>
                <a:latin typeface="Calibri" panose="020F0502020204030204" pitchFamily="34" charset="0"/>
              </a:rPr>
              <a:t>index.json lists every item per service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1B2631"/>
                </a:solidFill>
                <a:latin typeface="Calibri" panose="020F0502020204030204" pitchFamily="34" charset="0"/>
              </a:rPr>
              <a:t>The item ID is the identity, so re-downloads update instead of duplicating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68717-3F1D-C6A7-ED2C-F102588C936C}"/>
              </a:ext>
            </a:extLst>
          </p:cNvPr>
          <p:cNvSpPr txBox="1"/>
          <p:nvPr/>
        </p:nvSpPr>
        <p:spPr>
          <a:xfrm>
            <a:off x="609600" y="5486400"/>
            <a:ext cx="520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D6D7E"/>
                </a:solidFill>
                <a:latin typeface="Calibri" panose="020F0502020204030204" pitchFamily="34" charset="0"/>
              </a:rPr>
              <a:t>Folder layout (full spec: localStorageFormats.md)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17614-E1EF-9A8B-8ED4-FC0D07BC0436}"/>
              </a:ext>
            </a:extLst>
          </p:cNvPr>
          <p:cNvSpPr txBox="1"/>
          <p:nvPr/>
        </p:nvSpPr>
        <p:spPr>
          <a:xfrm>
            <a:off x="6121400" y="3911600"/>
            <a:ext cx="546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D6D7E"/>
                </a:solidFill>
                <a:latin typeface="Calibri" panose="020F0502020204030204" pitchFamily="34" charset="0"/>
              </a:rPr>
              <a:t>metadata.json (shortened)</a:t>
            </a:r>
          </a:p>
        </p:txBody>
      </p:sp>
    </p:spTree>
    <p:extLst>
      <p:ext uri="{BB962C8B-B14F-4D97-AF65-F5344CB8AC3E}">
        <p14:creationId xmlns:p14="http://schemas.microsoft.com/office/powerpoint/2010/main" val="38752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F36EC-2A3C-BFA6-54CD-88C6037BF26C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Skills for repeatable downloads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54901D-5594-55AC-680D-2E347AC3FFA8}"/>
              </a:ext>
            </a:extLst>
          </p:cNvPr>
          <p:cNvSpPr/>
          <p:nvPr/>
        </p:nvSpPr>
        <p:spPr>
          <a:xfrm>
            <a:off x="609600" y="1270000"/>
            <a:ext cx="5334000" cy="2413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D956B-39F1-FCB0-9A39-29E9D393E65B}"/>
              </a:ext>
            </a:extLst>
          </p:cNvPr>
          <p:cNvSpPr txBox="1"/>
          <p:nvPr/>
        </p:nvSpPr>
        <p:spPr>
          <a:xfrm>
            <a:off x="863600" y="1524000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F7A8C"/>
                </a:solidFill>
                <a:latin typeface="Courier New" panose="02070309020205020404" pitchFamily="49" charset="0"/>
              </a:rPr>
              <a:t>download-notion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3C0F4-C280-CCFC-AE2A-4F390180042E}"/>
              </a:ext>
            </a:extLst>
          </p:cNvPr>
          <p:cNvSpPr txBox="1"/>
          <p:nvPr/>
        </p:nvSpPr>
        <p:spPr>
          <a:xfrm>
            <a:off x="863600" y="2108200"/>
            <a:ext cx="482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Saves Notion pages to dataExports/notion/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2A5EF-D036-E762-83FA-EC264EAF1BC6}"/>
              </a:ext>
            </a:extLst>
          </p:cNvPr>
          <p:cNvSpPr txBox="1"/>
          <p:nvPr/>
        </p:nvSpPr>
        <p:spPr>
          <a:xfrm>
            <a:off x="863600" y="2667000"/>
            <a:ext cx="482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D6D7E"/>
                </a:solidFill>
                <a:latin typeface="Calibri" panose="020F0502020204030204" pitchFamily="34" charset="0"/>
              </a:rPr>
              <a:t>Example request: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78DD0-40A2-5117-8221-E897F1C9AA9B}"/>
              </a:ext>
            </a:extLst>
          </p:cNvPr>
          <p:cNvSpPr txBox="1"/>
          <p:nvPr/>
        </p:nvSpPr>
        <p:spPr>
          <a:xfrm>
            <a:off x="863600" y="2971800"/>
            <a:ext cx="482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“Download the pages under Test Data”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300C7B-39B4-C103-F9A6-3101869C31FB}"/>
              </a:ext>
            </a:extLst>
          </p:cNvPr>
          <p:cNvSpPr/>
          <p:nvPr/>
        </p:nvSpPr>
        <p:spPr>
          <a:xfrm>
            <a:off x="6248400" y="1270000"/>
            <a:ext cx="5334000" cy="2413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C5FEA-4142-92E7-B984-7E275770E81C}"/>
              </a:ext>
            </a:extLst>
          </p:cNvPr>
          <p:cNvSpPr txBox="1"/>
          <p:nvPr/>
        </p:nvSpPr>
        <p:spPr>
          <a:xfrm>
            <a:off x="6502400" y="1524000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F7A8C"/>
                </a:solidFill>
                <a:latin typeface="Courier New" panose="02070309020205020404" pitchFamily="49" charset="0"/>
              </a:rPr>
              <a:t>download-jira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DB97F-42F9-BE18-0EDA-B67E8DB64904}"/>
              </a:ext>
            </a:extLst>
          </p:cNvPr>
          <p:cNvSpPr txBox="1"/>
          <p:nvPr/>
        </p:nvSpPr>
        <p:spPr>
          <a:xfrm>
            <a:off x="6502400" y="2108200"/>
            <a:ext cx="482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Saves Jira issues to dataExports/jira/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30340-9EA2-5518-8B20-B630BA49DA29}"/>
              </a:ext>
            </a:extLst>
          </p:cNvPr>
          <p:cNvSpPr txBox="1"/>
          <p:nvPr/>
        </p:nvSpPr>
        <p:spPr>
          <a:xfrm>
            <a:off x="6502400" y="2667000"/>
            <a:ext cx="482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D6D7E"/>
                </a:solidFill>
                <a:latin typeface="Calibri" panose="020F0502020204030204" pitchFamily="34" charset="0"/>
              </a:rPr>
              <a:t>Example request: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7EDC7-A855-9599-D6AB-A710E45F58AD}"/>
              </a:ext>
            </a:extLst>
          </p:cNvPr>
          <p:cNvSpPr txBox="1"/>
          <p:nvPr/>
        </p:nvSpPr>
        <p:spPr>
          <a:xfrm>
            <a:off x="6502400" y="2971800"/>
            <a:ext cx="482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“Download all FALCON issues”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215696-3684-E65E-D749-A78C498B3383}"/>
              </a:ext>
            </a:extLst>
          </p:cNvPr>
          <p:cNvSpPr/>
          <p:nvPr/>
        </p:nvSpPr>
        <p:spPr>
          <a:xfrm>
            <a:off x="609600" y="4013200"/>
            <a:ext cx="10972800" cy="13970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7E787-EA8C-886D-3C8C-46118E7ADC03}"/>
              </a:ext>
            </a:extLst>
          </p:cNvPr>
          <p:cNvSpPr txBox="1"/>
          <p:nvPr/>
        </p:nvSpPr>
        <p:spPr>
          <a:xfrm>
            <a:off x="914400" y="4241800"/>
            <a:ext cx="1041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F2A541"/>
                </a:solidFill>
                <a:latin typeface="Cambria" panose="02040503050406030204" pitchFamily="18" charset="0"/>
              </a:rPr>
              <a:t>Tested in a fresh conversation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C7CB3-5ACD-BB9C-4AF0-AB2226132AAD}"/>
              </a:ext>
            </a:extLst>
          </p:cNvPr>
          <p:cNvSpPr txBox="1"/>
          <p:nvPr/>
        </p:nvSpPr>
        <p:spPr>
          <a:xfrm>
            <a:off x="914400" y="47244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With no earlier context, each skill downloaded 3 new items in the right format and rebuilt index.json.</a:t>
            </a:r>
          </a:p>
        </p:txBody>
      </p:sp>
    </p:spTree>
    <p:extLst>
      <p:ext uri="{BB962C8B-B14F-4D97-AF65-F5344CB8AC3E}">
        <p14:creationId xmlns:p14="http://schemas.microsoft.com/office/powerpoint/2010/main" val="345500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A9E3C-F6FD-BD6F-1E19-356FA0A42824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Dashboard: one search across all 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1EB2D-B6B9-9E89-14B3-5D32D0B25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62075"/>
            <a:ext cx="6858000" cy="4286250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0984F-97C0-7A47-D876-7E901D833E83}"/>
              </a:ext>
            </a:extLst>
          </p:cNvPr>
          <p:cNvSpPr txBox="1"/>
          <p:nvPr/>
        </p:nvSpPr>
        <p:spPr>
          <a:xfrm>
            <a:off x="7823200" y="1397000"/>
            <a:ext cx="3759200" cy="419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Searches all services at once, or one at a time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Quotes for exact phrases, matches highlighted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Opens the full item with its metadata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Plain HTML, works offline: double-click index.html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1B2631"/>
                </a:solidFill>
                <a:latin typeface="Calibri" panose="020F0502020204030204" pitchFamily="34" charset="0"/>
              </a:rPr>
              <a:t>Rerun one script after each download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7E02B-1651-A356-6513-8B8D03B7FDD7}"/>
              </a:ext>
            </a:extLst>
          </p:cNvPr>
          <p:cNvSpPr txBox="1"/>
          <p:nvPr/>
        </p:nvSpPr>
        <p:spPr>
          <a:xfrm>
            <a:off x="609600" y="5918200"/>
            <a:ext cx="685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“Joe Smith”: 21 results from all four services</a:t>
            </a:r>
          </a:p>
        </p:txBody>
      </p:sp>
    </p:spTree>
    <p:extLst>
      <p:ext uri="{BB962C8B-B14F-4D97-AF65-F5344CB8AC3E}">
        <p14:creationId xmlns:p14="http://schemas.microsoft.com/office/powerpoint/2010/main" val="278457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932DD-D6B1-86C7-BEE4-6B498DE40353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Gmail: tried, then waived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D70701-CE3D-ED46-87D8-C45D364AEF16}"/>
              </a:ext>
            </a:extLst>
          </p:cNvPr>
          <p:cNvSpPr/>
          <p:nvPr/>
        </p:nvSpPr>
        <p:spPr>
          <a:xfrm>
            <a:off x="609600" y="1397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726FA1-1FEA-EFD9-9A3B-A88033D87869}"/>
              </a:ext>
            </a:extLst>
          </p:cNvPr>
          <p:cNvSpPr/>
          <p:nvPr/>
        </p:nvSpPr>
        <p:spPr>
          <a:xfrm>
            <a:off x="1574800" y="1574800"/>
            <a:ext cx="609600" cy="609600"/>
          </a:xfrm>
          <a:prstGeom prst="ellipse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0E953-EF96-8504-7447-471C4B6CF872}"/>
              </a:ext>
            </a:extLst>
          </p:cNvPr>
          <p:cNvSpPr txBox="1"/>
          <p:nvPr/>
        </p:nvSpPr>
        <p:spPr>
          <a:xfrm>
            <a:off x="736600" y="23622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OAuth client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E276A1-DA06-BDB4-703B-EB8EF532E373}"/>
              </a:ext>
            </a:extLst>
          </p:cNvPr>
          <p:cNvSpPr/>
          <p:nvPr/>
        </p:nvSpPr>
        <p:spPr>
          <a:xfrm>
            <a:off x="3429000" y="1397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00B5F5-79B3-65EF-45DF-C309D659470A}"/>
              </a:ext>
            </a:extLst>
          </p:cNvPr>
          <p:cNvSpPr/>
          <p:nvPr/>
        </p:nvSpPr>
        <p:spPr>
          <a:xfrm>
            <a:off x="4394200" y="1574800"/>
            <a:ext cx="609600" cy="609600"/>
          </a:xfrm>
          <a:prstGeom prst="ellipse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8662B-8BF2-F973-7AA9-AFCC189E43F5}"/>
              </a:ext>
            </a:extLst>
          </p:cNvPr>
          <p:cNvSpPr txBox="1"/>
          <p:nvPr/>
        </p:nvSpPr>
        <p:spPr>
          <a:xfrm>
            <a:off x="3556000" y="23622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Consent screen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7594C1-8F72-4691-9212-72D6402225E5}"/>
              </a:ext>
            </a:extLst>
          </p:cNvPr>
          <p:cNvSpPr/>
          <p:nvPr/>
        </p:nvSpPr>
        <p:spPr>
          <a:xfrm>
            <a:off x="6248400" y="1397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6AC73F-DB4D-5D85-5DFF-7EC95F6A6548}"/>
              </a:ext>
            </a:extLst>
          </p:cNvPr>
          <p:cNvSpPr/>
          <p:nvPr/>
        </p:nvSpPr>
        <p:spPr>
          <a:xfrm>
            <a:off x="7213600" y="1574800"/>
            <a:ext cx="609600" cy="609600"/>
          </a:xfrm>
          <a:prstGeom prst="ellipse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ED7F1-EAAC-D65E-B1DF-1FE8F06412AC}"/>
              </a:ext>
            </a:extLst>
          </p:cNvPr>
          <p:cNvSpPr txBox="1"/>
          <p:nvPr/>
        </p:nvSpPr>
        <p:spPr>
          <a:xfrm>
            <a:off x="6375400" y="23622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Sign-in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3BD71F-206F-8665-D401-FB61E1D2C710}"/>
              </a:ext>
            </a:extLst>
          </p:cNvPr>
          <p:cNvSpPr/>
          <p:nvPr/>
        </p:nvSpPr>
        <p:spPr>
          <a:xfrm>
            <a:off x="9067800" y="1397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C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EDEE59-A47F-2EAC-8B29-FF70C3C7CBAC}"/>
              </a:ext>
            </a:extLst>
          </p:cNvPr>
          <p:cNvSpPr/>
          <p:nvPr/>
        </p:nvSpPr>
        <p:spPr>
          <a:xfrm>
            <a:off x="10033000" y="1574800"/>
            <a:ext cx="609600" cy="6096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✗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C3A6B-CC0A-C0E0-30D0-6AEDCC4489C3}"/>
              </a:ext>
            </a:extLst>
          </p:cNvPr>
          <p:cNvSpPr txBox="1"/>
          <p:nvPr/>
        </p:nvSpPr>
        <p:spPr>
          <a:xfrm>
            <a:off x="9194800" y="2362200"/>
            <a:ext cx="228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B2631"/>
                </a:solidFill>
                <a:latin typeface="Calibri" panose="020F0502020204030204" pitchFamily="34" charset="0"/>
              </a:rPr>
              <a:t>Tool calls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7D2FB-85A7-25E0-87CD-A33DE2D335B2}"/>
              </a:ext>
            </a:extLst>
          </p:cNvPr>
          <p:cNvSpPr txBox="1"/>
          <p:nvPr/>
        </p:nvSpPr>
        <p:spPr>
          <a:xfrm>
            <a:off x="609600" y="3302000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B2631"/>
                </a:solidFill>
                <a:latin typeface="Calibri" panose="020F0502020204030204" pitchFamily="34" charset="0"/>
              </a:rPr>
              <a:t>We used Google's official Gmail MCP server.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8B154-0B5E-D749-A3B2-80C71B0F507D}"/>
              </a:ext>
            </a:extLst>
          </p:cNvPr>
          <p:cNvSpPr txBox="1"/>
          <p:nvPr/>
        </p:nvSpPr>
        <p:spPr>
          <a:xfrm>
            <a:off x="609600" y="3708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B2631"/>
                </a:solidFill>
                <a:latin typeface="Calibri" panose="020F0502020204030204" pitchFamily="34" charset="0"/>
              </a:rPr>
              <a:t>Every tool call was rejected: the Google Cloud project must be in the Workspace Developer Preview Program.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EA04D7-467A-ADF8-C66A-21AE3DA554AB}"/>
              </a:ext>
            </a:extLst>
          </p:cNvPr>
          <p:cNvSpPr/>
          <p:nvPr/>
        </p:nvSpPr>
        <p:spPr>
          <a:xfrm>
            <a:off x="609600" y="4699000"/>
            <a:ext cx="10972800" cy="812800"/>
          </a:xfrm>
          <a:prstGeom prst="roundRect">
            <a:avLst>
              <a:gd name="adj" fmla="val 8000"/>
            </a:avLst>
          </a:prstGeom>
          <a:solidFill>
            <a:srgbClr val="0F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96520-4F9F-3742-A712-63040A537A21}"/>
              </a:ext>
            </a:extLst>
          </p:cNvPr>
          <p:cNvSpPr txBox="1"/>
          <p:nvPr/>
        </p:nvSpPr>
        <p:spPr>
          <a:xfrm>
            <a:off x="914400" y="4953000"/>
            <a:ext cx="10414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The instructor waived Gmail, so we removed it from .mcp.json.</a:t>
            </a:r>
          </a:p>
        </p:txBody>
      </p:sp>
    </p:spTree>
    <p:extLst>
      <p:ext uri="{BB962C8B-B14F-4D97-AF65-F5344CB8AC3E}">
        <p14:creationId xmlns:p14="http://schemas.microsoft.com/office/powerpoint/2010/main" val="2418284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DF6EE-0D7B-031E-9A86-7347311C2BA4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B2631"/>
                </a:solidFill>
                <a:latin typeface="Cambria" panose="02040503050406030204" pitchFamily="18" charset="0"/>
              </a:rPr>
              <a:t>Lior's services</a:t>
            </a:r>
          </a:p>
        </p:txBody>
      </p:sp>
      <p:pic>
        <p:nvPicPr>
          <p:cNvPr id="3" name="Original screenshot 3" descr="GitHub issue #7 on github.c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93800"/>
            <a:ext cx="4754880" cy="2161309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pic>
        <p:nvPicPr>
          <p:cNvPr id="4" name="Dashboard screenshot 4" descr="Dashboard showing GitHub issue #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1193800"/>
            <a:ext cx="4754880" cy="2161309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sp>
        <p:nvSpPr>
          <p:cNvPr id="5" name="Arrow 5"/>
          <p:cNvSpPr/>
          <p:nvPr/>
        </p:nvSpPr>
        <p:spPr>
          <a:xfrm>
            <a:off x="5867400" y="2109354"/>
            <a:ext cx="457200" cy="330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609600" y="3429000"/>
            <a:ext cx="475488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Issue #7 in GitHub</a:t>
            </a:r>
          </a:p>
        </p:txBody>
      </p:sp>
      <p:sp>
        <p:nvSpPr>
          <p:cNvPr id="7" name="Caption 7"/>
          <p:cNvSpPr txBox="1"/>
          <p:nvPr/>
        </p:nvSpPr>
        <p:spPr>
          <a:xfrm>
            <a:off x="6827520" y="3429000"/>
            <a:ext cx="475488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Issue #7 opened in the dashboard</a:t>
            </a:r>
          </a:p>
        </p:txBody>
      </p:sp>
      <p:pic>
        <p:nvPicPr>
          <p:cNvPr id="8" name="Original screenshot 8" descr="#all-ai-assisted-yu channel in Sla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60800"/>
            <a:ext cx="4754880" cy="2161309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pic>
        <p:nvPicPr>
          <p:cNvPr id="9" name="Dashboard screenshot 9" descr="Dashboard showing the Slack channel #all-ai-assisted-yu for Oct 15,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20" y="3860800"/>
            <a:ext cx="4754880" cy="2161309"/>
          </a:xfrm>
          <a:prstGeom prst="rect">
            <a:avLst/>
          </a:prstGeom>
          <a:ln w="12700">
            <a:solidFill>
              <a:srgbClr val="C8D0D6"/>
            </a:solidFill>
          </a:ln>
        </p:spPr>
      </p:pic>
      <p:sp>
        <p:nvSpPr>
          <p:cNvPr id="10" name="Arrow 10"/>
          <p:cNvSpPr/>
          <p:nvPr/>
        </p:nvSpPr>
        <p:spPr>
          <a:xfrm>
            <a:off x="5867400" y="4776354"/>
            <a:ext cx="457200" cy="330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1" name="Caption 11"/>
          <p:cNvSpPr txBox="1"/>
          <p:nvPr/>
        </p:nvSpPr>
        <p:spPr>
          <a:xfrm>
            <a:off x="609600" y="6096000"/>
            <a:ext cx="475488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#all-ai-assisted-yu, Oct 15 in Slack</a:t>
            </a:r>
          </a:p>
        </p:txBody>
      </p:sp>
      <p:sp>
        <p:nvSpPr>
          <p:cNvPr id="12" name="Caption 12"/>
          <p:cNvSpPr txBox="1"/>
          <p:nvPr/>
        </p:nvSpPr>
        <p:spPr>
          <a:xfrm>
            <a:off x="6827520" y="6096000"/>
            <a:ext cx="475488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5D6D7E"/>
                </a:solidFill>
                <a:latin typeface="Calibri" panose="020F0502020204030204" pitchFamily="34" charset="0"/>
              </a:rPr>
              <a:t>#all-ai-assisted-yu, Oct 15 opened in the dashboard</a:t>
            </a:r>
          </a:p>
        </p:txBody>
      </p:sp>
    </p:spTree>
    <p:extLst>
      <p:ext uri="{BB962C8B-B14F-4D97-AF65-F5344CB8AC3E}">
        <p14:creationId xmlns:p14="http://schemas.microsoft.com/office/powerpoint/2010/main" val="395944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254A80-6E06-FA71-F4F8-816187AE87A1}"/>
              </a:ext>
            </a:extLst>
          </p:cNvPr>
          <p:cNvSpPr txBox="1"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Cambria" panose="02040503050406030204" pitchFamily="18" charset="0"/>
              </a:rPr>
              <a:t>Who did what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B71F7-CD9D-FCB5-5672-C9D644FD2CB3}"/>
              </a:ext>
            </a:extLst>
          </p:cNvPr>
          <p:cNvSpPr txBox="1"/>
          <p:nvPr/>
        </p:nvSpPr>
        <p:spPr>
          <a:xfrm>
            <a:off x="609600" y="1397000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F2A541"/>
                </a:solidFill>
                <a:latin typeface="Cambria" panose="02040503050406030204" pitchFamily="18" charset="0"/>
              </a:rPr>
              <a:t>Gabi Slepoy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16740-8DC2-6F2D-7227-0F27362703B0}"/>
              </a:ext>
            </a:extLst>
          </p:cNvPr>
          <p:cNvSpPr txBox="1"/>
          <p:nvPr/>
        </p:nvSpPr>
        <p:spPr>
          <a:xfrm>
            <a:off x="609600" y="1981200"/>
            <a:ext cx="5334000" cy="330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Notion: connection, export, skill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Jira (extra service): connection, export, skill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Gmail setup attempt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Shared storage format and download skills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Dashboard and its data build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01990-4813-6302-A897-3608D5ED234F}"/>
              </a:ext>
            </a:extLst>
          </p:cNvPr>
          <p:cNvSpPr txBox="1"/>
          <p:nvPr/>
        </p:nvSpPr>
        <p:spPr>
          <a:xfrm>
            <a:off x="6248400" y="1397000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F2A541"/>
                </a:solidFill>
                <a:latin typeface="Cambria" panose="02040503050406030204" pitchFamily="18" charset="0"/>
              </a:rPr>
              <a:t>Lior Bongart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51154-1EA6-F989-8654-A5853C357372}"/>
              </a:ext>
            </a:extLst>
          </p:cNvPr>
          <p:cNvSpPr txBox="1"/>
          <p:nvPr/>
        </p:nvSpPr>
        <p:spPr>
          <a:xfrm>
            <a:off x="6248400" y="1981200"/>
            <a:ext cx="5334000" cy="330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GitHub: MCP connection, issue export, download-github skill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Slack (extra service): MCP connection, channel export, download-slack skill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Slack added to .mcp.json</a:t>
            </a:r>
          </a:p>
          <a:p>
            <a:pPr marL="228600" indent="-228600">
              <a:spcAft>
                <a:spcPts val="800"/>
              </a:spcAft>
              <a:buFont typeface="+mj-lt"/>
              <a:buChar char="•"/>
            </a:pPr>
            <a:r>
              <a:rPr lang="en-US" sz="1700">
                <a:solidFill>
                  <a:srgbClr val="FFFFFF"/>
                </a:solidFill>
                <a:latin typeface="Calibri" panose="020F0502020204030204" pitchFamily="34" charset="0"/>
              </a:rPr>
              <a:t>Dashboard: GitHub and Slack integration</a:t>
            </a:r>
          </a:p>
        </p:txBody>
      </p:sp>
    </p:spTree>
    <p:extLst>
      <p:ext uri="{BB962C8B-B14F-4D97-AF65-F5344CB8AC3E}">
        <p14:creationId xmlns:p14="http://schemas.microsoft.com/office/powerpoint/2010/main" val="2888286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Custom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Gabi Slepoy [student]</dc:creator>
  <cp:lastModifiedBy>Gabi Slepoy [student]</cp:lastModifiedBy>
  <cp:revision>1</cp:revision>
  <dcterms:created xsi:type="dcterms:W3CDTF">2026-10-15T02:43:32Z</dcterms:created>
  <dcterms:modified xsi:type="dcterms:W3CDTF">2026-10-15T02:43:32Z</dcterms:modified>
</cp:coreProperties>
</file>